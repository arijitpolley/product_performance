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ED5B-5398-1458-B0AF-D9F539491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19D65-ADCA-5F93-27BF-BD37C5BCD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7854F-D4AF-C764-E300-0DCB52D0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5D26-B082-427A-8B0D-0E37BC194FD6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D375A-BDF6-AE34-D427-43491A3D1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E83A4-CAB2-24CD-977D-9241B026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A96B-7EC6-4200-94BA-4FA86D7DC8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7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28FD0-36A8-D2A0-FBCE-962E533C4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60692-75A4-0D12-AD32-F7605957B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E2BCA-EEE7-A487-E741-6401BA118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5D26-B082-427A-8B0D-0E37BC194FD6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A9747-BE7C-FF4C-E996-E68B1A5E9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2AC91-CBD9-D826-E67B-2C9A43255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A96B-7EC6-4200-94BA-4FA86D7DC8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75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DB047-6282-B40C-A92D-7D6E29EA5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7B3DA-1641-5A65-B752-18E872644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CB345-4F2F-ADCA-D381-4524D45E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5D26-B082-427A-8B0D-0E37BC194FD6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F5663-79CF-096D-3634-4545B118B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A0FD3-244D-5F55-09E3-2302B0B3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A96B-7EC6-4200-94BA-4FA86D7DC8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669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D01FB-DF49-B6EA-3B55-F19EF9C87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19635-EBF0-5346-3D8A-C37F50367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96288-238A-6066-6986-04E868168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1D810-18C1-4E94-A728-5085E1450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5D26-B082-427A-8B0D-0E37BC194FD6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58412-24ED-B79D-C616-9E3F3AA9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D69E5-B6A5-1D41-733C-3929E4D6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A96B-7EC6-4200-94BA-4FA86D7DC8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05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CC93-D57F-81D1-4137-7671F64DF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D54BF-748F-C125-9B72-73838D8E2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A74CF-7C41-882B-C062-548ED39D9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0FF12-D445-6898-0C4F-AB0CEEAFD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78910-E4BF-FF9A-1E88-D20D302424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DAD4C-D876-2DBF-582F-615A9EB1D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5D26-B082-427A-8B0D-0E37BC194FD6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C68989-FFB9-6BA2-703C-1E4D16CD1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5FD7DC-A92B-1480-8022-2FF74F62E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A96B-7EC6-4200-94BA-4FA86D7DC8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316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0933-ACFF-4330-1B2D-E1C97083F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188A12-8524-FDBE-E534-D8FBCB7D7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5D26-B082-427A-8B0D-0E37BC194FD6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261789-5EC9-A9CE-A843-3F5D3609C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CBB8D-7BBB-2022-1996-F755B697A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A96B-7EC6-4200-94BA-4FA86D7DC8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09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5A0B0-3441-AB17-3F03-0660101C6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5D26-B082-427A-8B0D-0E37BC194FD6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5C959-129A-39CA-1E5C-E7C4C5EB5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1CF66-26D3-7E74-6FB5-B288A56DB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A96B-7EC6-4200-94BA-4FA86D7DC8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29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DEC4-4E5B-B103-0B5A-51F1152CA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00BB-9C2E-76AA-F1CE-555A8204A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DBCD9-C768-0122-DB73-11E32D5D1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17083-8AC6-306B-72A9-252372C7B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5D26-B082-427A-8B0D-0E37BC194FD6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93FD1-32CB-FB23-88EF-A889AE672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471A9-09D7-0C5C-6D9D-2A7BD5CD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A96B-7EC6-4200-94BA-4FA86D7DC8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176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D0313-4A9B-9272-3BF1-07E73EDAF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4BB564-4048-0F45-1055-0EA21094C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D2245-99F4-B725-038C-23D10C81F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04272-DF4C-6B75-749D-E80D55370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5D26-B082-427A-8B0D-0E37BC194FD6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53F42-B68F-7F44-7E8D-D2365A6B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C14C1-5363-4AF1-E158-0E0BC828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A96B-7EC6-4200-94BA-4FA86D7DC8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104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9A92-5B04-A23F-7627-79567460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280C0-590C-0A10-6319-2CAB4CE75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3E26F-275E-9565-721A-6FC20B5A4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5D26-B082-427A-8B0D-0E37BC194FD6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CBE03-D2C9-4AA6-478D-796BE1FD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87BB4-3CF5-1260-0466-7181FE8C3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A96B-7EC6-4200-94BA-4FA86D7DC8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203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2C7A8-973E-9104-6C84-BECF09905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86890-483E-1792-19ED-F15C5C1C6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C20C7-FDCE-6595-CD91-7BE3DFEBB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5D26-B082-427A-8B0D-0E37BC194FD6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7C12B-7DDB-B876-5B20-C5BD5C1D9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EF14E-76AB-8C62-6BAB-4854B6AD1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A96B-7EC6-4200-94BA-4FA86D7DC8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11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B11D9-E463-7393-FE96-DAD05BCA1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25D5F-A5F5-69EE-BFA3-D65BB7F9B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7A92A-7506-0F0D-67E0-8DC7AA64D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55D26-B082-427A-8B0D-0E37BC194FD6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CFD1B-53F8-B916-03E5-D5C657A13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6EBBE-3BCF-F1B2-ADE6-A92FD54D1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6A96B-7EC6-4200-94BA-4FA86D7DC8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95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7D9F07-0A17-47A3-E83A-61B816E0D998}"/>
              </a:ext>
            </a:extLst>
          </p:cNvPr>
          <p:cNvSpPr txBox="1"/>
          <p:nvPr/>
        </p:nvSpPr>
        <p:spPr>
          <a:xfrm>
            <a:off x="0" y="147484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/>
              <a:t>Product Performance Analysis Using MySQL</a:t>
            </a:r>
            <a:endParaRPr lang="en-IN" sz="2800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65560-C82A-A3A8-E8E7-1F7BCA35EFEA}"/>
              </a:ext>
            </a:extLst>
          </p:cNvPr>
          <p:cNvSpPr txBox="1"/>
          <p:nvPr/>
        </p:nvSpPr>
        <p:spPr>
          <a:xfrm>
            <a:off x="1465006" y="1386349"/>
            <a:ext cx="89768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OBJECTIVE</a:t>
            </a:r>
            <a:r>
              <a:rPr lang="en-IN" dirty="0"/>
              <a:t> : To </a:t>
            </a:r>
            <a:r>
              <a:rPr lang="en-IN" dirty="0" err="1"/>
              <a:t>analyze</a:t>
            </a:r>
            <a:r>
              <a:rPr lang="en-IN" dirty="0"/>
              <a:t> product-level performance using SQL techniques such as window              functions and CTEs, focusing on ranking, growth trends, and performance variability across products.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DFF5A0-240B-7ACE-A9B8-61BF74F78FBB}"/>
              </a:ext>
            </a:extLst>
          </p:cNvPr>
          <p:cNvSpPr txBox="1"/>
          <p:nvPr/>
        </p:nvSpPr>
        <p:spPr>
          <a:xfrm>
            <a:off x="1465006" y="3224981"/>
            <a:ext cx="75511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Tools Used:</a:t>
            </a:r>
          </a:p>
          <a:p>
            <a:endParaRPr lang="en-US" b="1" dirty="0"/>
          </a:p>
          <a:p>
            <a:r>
              <a:rPr lang="en-US" dirty="0"/>
              <a:t>MySQL — Data analysis, SQL queries, CTEs, and window functions </a:t>
            </a:r>
          </a:p>
          <a:p>
            <a:endParaRPr lang="en-US" dirty="0"/>
          </a:p>
          <a:p>
            <a:r>
              <a:rPr lang="en-US" dirty="0"/>
              <a:t>Microsoft Power BI — Data visualization and dashboard creation</a:t>
            </a:r>
          </a:p>
        </p:txBody>
      </p:sp>
    </p:spTree>
    <p:extLst>
      <p:ext uri="{BB962C8B-B14F-4D97-AF65-F5344CB8AC3E}">
        <p14:creationId xmlns:p14="http://schemas.microsoft.com/office/powerpoint/2010/main" val="748654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024C75C-EC5C-BF74-E311-EC406FC6748F}"/>
              </a:ext>
            </a:extLst>
          </p:cNvPr>
          <p:cNvSpPr txBox="1"/>
          <p:nvPr/>
        </p:nvSpPr>
        <p:spPr>
          <a:xfrm>
            <a:off x="98323" y="1612490"/>
            <a:ext cx="2015612" cy="351570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Calendar Dataset</a:t>
            </a:r>
          </a:p>
          <a:p>
            <a:r>
              <a:rPr lang="en-IN" dirty="0"/>
              <a:t>Total Records</a:t>
            </a:r>
            <a:r>
              <a:rPr lang="en-US" b="1" dirty="0"/>
              <a:t>:</a:t>
            </a:r>
            <a:r>
              <a:rPr lang="en-US" dirty="0"/>
              <a:t> 731</a:t>
            </a:r>
          </a:p>
          <a:p>
            <a:pPr>
              <a:defRPr sz="1296"/>
            </a:pPr>
            <a:endParaRPr lang="en-US" dirty="0"/>
          </a:p>
          <a:p>
            <a:pPr>
              <a:defRPr sz="1296"/>
            </a:pPr>
            <a:r>
              <a:rPr lang="en-US" dirty="0"/>
              <a:t>Columns:</a:t>
            </a:r>
          </a:p>
          <a:p>
            <a:pPr>
              <a:defRPr sz="1296"/>
            </a:pPr>
            <a:r>
              <a:rPr lang="en-US" dirty="0"/>
              <a:t>• Date</a:t>
            </a:r>
          </a:p>
          <a:p>
            <a:pPr>
              <a:defRPr sz="1296"/>
            </a:pPr>
            <a:r>
              <a:rPr lang="en-US" dirty="0"/>
              <a:t>• Year</a:t>
            </a:r>
          </a:p>
          <a:p>
            <a:pPr>
              <a:defRPr sz="1296"/>
            </a:pPr>
            <a:r>
              <a:rPr lang="en-US" dirty="0"/>
              <a:t>• Month</a:t>
            </a:r>
          </a:p>
          <a:p>
            <a:pPr>
              <a:defRPr sz="1296"/>
            </a:pPr>
            <a:r>
              <a:rPr lang="en-US" dirty="0"/>
              <a:t>• Day</a:t>
            </a:r>
          </a:p>
          <a:p>
            <a:pPr>
              <a:defRPr sz="1296"/>
            </a:pPr>
            <a:r>
              <a:rPr lang="en-US" dirty="0"/>
              <a:t>• Week</a:t>
            </a:r>
          </a:p>
          <a:p>
            <a:pPr>
              <a:defRPr sz="1296"/>
            </a:pPr>
            <a:r>
              <a:rPr lang="en-US" dirty="0"/>
              <a:t>• Day of Week</a:t>
            </a:r>
          </a:p>
          <a:p>
            <a:pPr>
              <a:defRPr sz="1296"/>
            </a:pPr>
            <a:endParaRPr lang="en-US" dirty="0"/>
          </a:p>
          <a:p>
            <a:pPr>
              <a:defRPr sz="1296"/>
            </a:pPr>
            <a:r>
              <a:rPr lang="en-US" dirty="0"/>
              <a:t>Purpose:</a:t>
            </a:r>
          </a:p>
          <a:p>
            <a:pPr>
              <a:defRPr sz="1296"/>
            </a:pPr>
            <a:r>
              <a:rPr lang="en-US" dirty="0"/>
              <a:t>• Time-based analysis</a:t>
            </a:r>
          </a:p>
          <a:p>
            <a:pPr>
              <a:defRPr sz="1296"/>
            </a:pPr>
            <a:endParaRPr lang="en-US" dirty="0"/>
          </a:p>
          <a:p>
            <a:pPr>
              <a:defRPr sz="1296"/>
            </a:pPr>
            <a:r>
              <a:rPr lang="en-US" dirty="0"/>
              <a:t>• Seasonal trend tracking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8F23FE-EF24-6F34-169F-3BB36AFD1EAC}"/>
              </a:ext>
            </a:extLst>
          </p:cNvPr>
          <p:cNvSpPr txBox="1"/>
          <p:nvPr/>
        </p:nvSpPr>
        <p:spPr>
          <a:xfrm>
            <a:off x="2231922" y="1612491"/>
            <a:ext cx="2330246" cy="348492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Products Dataset</a:t>
            </a:r>
          </a:p>
          <a:p>
            <a:pPr>
              <a:defRPr sz="1296"/>
            </a:pPr>
            <a:r>
              <a:rPr lang="en-US" sz="1600" dirty="0"/>
              <a:t>Total Records : 200</a:t>
            </a:r>
          </a:p>
          <a:p>
            <a:pPr>
              <a:defRPr sz="1296"/>
            </a:pPr>
            <a:endParaRPr lang="en-US" dirty="0"/>
          </a:p>
          <a:p>
            <a:pPr>
              <a:defRPr sz="1296"/>
            </a:pPr>
            <a:r>
              <a:rPr lang="en-US" dirty="0"/>
              <a:t>Columns:</a:t>
            </a:r>
          </a:p>
          <a:p>
            <a:pPr>
              <a:defRPr sz="1296"/>
            </a:pPr>
            <a:r>
              <a:rPr lang="en-US" dirty="0"/>
              <a:t>• Product ID</a:t>
            </a:r>
          </a:p>
          <a:p>
            <a:pPr>
              <a:defRPr sz="1296"/>
            </a:pPr>
            <a:r>
              <a:rPr lang="en-US" dirty="0"/>
              <a:t>• Product Name</a:t>
            </a:r>
          </a:p>
          <a:p>
            <a:pPr>
              <a:defRPr sz="1296"/>
            </a:pPr>
            <a:r>
              <a:rPr lang="en-US" dirty="0"/>
              <a:t>• Category</a:t>
            </a:r>
          </a:p>
          <a:p>
            <a:pPr>
              <a:defRPr sz="1296"/>
            </a:pPr>
            <a:r>
              <a:rPr lang="en-US" dirty="0"/>
              <a:t>• Brand</a:t>
            </a:r>
          </a:p>
          <a:p>
            <a:pPr>
              <a:defRPr sz="1296"/>
            </a:pPr>
            <a:r>
              <a:rPr lang="en-US" dirty="0"/>
              <a:t>• Price</a:t>
            </a:r>
          </a:p>
          <a:p>
            <a:pPr>
              <a:defRPr sz="1296"/>
            </a:pPr>
            <a:endParaRPr lang="en-US" dirty="0"/>
          </a:p>
          <a:p>
            <a:pPr>
              <a:defRPr sz="1296"/>
            </a:pPr>
            <a:endParaRPr lang="en-US" dirty="0"/>
          </a:p>
          <a:p>
            <a:pPr>
              <a:defRPr sz="1296"/>
            </a:pPr>
            <a:r>
              <a:rPr lang="en-US" dirty="0"/>
              <a:t>Purpose:</a:t>
            </a:r>
          </a:p>
          <a:p>
            <a:pPr>
              <a:defRPr sz="1296"/>
            </a:pPr>
            <a:r>
              <a:rPr lang="en-US" dirty="0"/>
              <a:t>• Product performance    analysis</a:t>
            </a:r>
          </a:p>
          <a:p>
            <a:pPr>
              <a:defRPr sz="1296"/>
            </a:pPr>
            <a:r>
              <a:rPr lang="en-US" dirty="0"/>
              <a:t>• Category-wise comparison</a:t>
            </a:r>
            <a:endParaRPr lang="en-IN" dirty="0"/>
          </a:p>
          <a:p>
            <a:endParaRPr lang="en-IN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27231F-3B81-6359-8E29-B988F08F11FD}"/>
              </a:ext>
            </a:extLst>
          </p:cNvPr>
          <p:cNvSpPr txBox="1"/>
          <p:nvPr/>
        </p:nvSpPr>
        <p:spPr>
          <a:xfrm>
            <a:off x="4680155" y="1612490"/>
            <a:ext cx="2192593" cy="34541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Customers Dataset</a:t>
            </a:r>
          </a:p>
          <a:p>
            <a:r>
              <a:rPr lang="en-US" sz="1600" dirty="0"/>
              <a:t>Total Records : 5000</a:t>
            </a:r>
          </a:p>
          <a:p>
            <a:endParaRPr lang="en-IN" sz="1600" b="1" dirty="0"/>
          </a:p>
          <a:p>
            <a:pPr>
              <a:defRPr sz="1296"/>
            </a:pPr>
            <a:r>
              <a:rPr lang="en-US" dirty="0"/>
              <a:t>Columns:</a:t>
            </a:r>
          </a:p>
          <a:p>
            <a:pPr>
              <a:defRPr sz="1296"/>
            </a:pPr>
            <a:r>
              <a:rPr lang="en-US" dirty="0"/>
              <a:t>• Customer ID</a:t>
            </a:r>
          </a:p>
          <a:p>
            <a:pPr>
              <a:defRPr sz="1296"/>
            </a:pPr>
            <a:r>
              <a:rPr lang="en-US" dirty="0"/>
              <a:t>• Age</a:t>
            </a:r>
          </a:p>
          <a:p>
            <a:pPr>
              <a:defRPr sz="1296"/>
            </a:pPr>
            <a:r>
              <a:rPr lang="en-US" dirty="0"/>
              <a:t>• Gender</a:t>
            </a:r>
          </a:p>
          <a:p>
            <a:pPr>
              <a:defRPr sz="1296"/>
            </a:pPr>
            <a:r>
              <a:rPr lang="en-US" dirty="0"/>
              <a:t>• Loyalty Member</a:t>
            </a:r>
          </a:p>
          <a:p>
            <a:pPr>
              <a:defRPr sz="1296"/>
            </a:pPr>
            <a:r>
              <a:rPr lang="en-US" dirty="0"/>
              <a:t>• Join Date</a:t>
            </a:r>
          </a:p>
          <a:p>
            <a:pPr>
              <a:defRPr sz="1296"/>
            </a:pPr>
            <a:endParaRPr lang="en-US" dirty="0"/>
          </a:p>
          <a:p>
            <a:pPr>
              <a:defRPr sz="1296"/>
            </a:pPr>
            <a:endParaRPr lang="en-US" dirty="0"/>
          </a:p>
          <a:p>
            <a:pPr>
              <a:defRPr sz="1296"/>
            </a:pPr>
            <a:r>
              <a:rPr lang="en-US" dirty="0"/>
              <a:t>Purpose:</a:t>
            </a:r>
          </a:p>
          <a:p>
            <a:pPr>
              <a:defRPr sz="1296"/>
            </a:pPr>
            <a:endParaRPr lang="en-US" dirty="0"/>
          </a:p>
          <a:p>
            <a:pPr>
              <a:defRPr sz="1296"/>
            </a:pPr>
            <a:r>
              <a:rPr lang="en-US" dirty="0"/>
              <a:t>• Customer segmentation</a:t>
            </a:r>
          </a:p>
          <a:p>
            <a:pPr>
              <a:defRPr sz="1296"/>
            </a:pPr>
            <a:endParaRPr lang="en-US" dirty="0"/>
          </a:p>
          <a:p>
            <a:pPr>
              <a:defRPr sz="1296"/>
            </a:pPr>
            <a:r>
              <a:rPr lang="en-US" dirty="0"/>
              <a:t>• Loyalty analysis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5160F6-5802-0C51-A49A-909026913954}"/>
              </a:ext>
            </a:extLst>
          </p:cNvPr>
          <p:cNvSpPr txBox="1"/>
          <p:nvPr/>
        </p:nvSpPr>
        <p:spPr>
          <a:xfrm>
            <a:off x="6990734" y="1612490"/>
            <a:ext cx="2448233" cy="348492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Sales Dataset</a:t>
            </a:r>
          </a:p>
          <a:p>
            <a:r>
              <a:rPr lang="en-US" sz="1600" dirty="0"/>
              <a:t>Total Records : 1000000</a:t>
            </a:r>
          </a:p>
          <a:p>
            <a:endParaRPr lang="en-IN" b="1" dirty="0"/>
          </a:p>
          <a:p>
            <a:pPr>
              <a:defRPr sz="1296"/>
            </a:pPr>
            <a:r>
              <a:rPr lang="en-US" dirty="0"/>
              <a:t>Columns:</a:t>
            </a:r>
          </a:p>
          <a:p>
            <a:pPr>
              <a:defRPr sz="1296"/>
            </a:pPr>
            <a:r>
              <a:rPr lang="en-US" dirty="0"/>
              <a:t>• Sales ID</a:t>
            </a:r>
          </a:p>
          <a:p>
            <a:pPr>
              <a:defRPr sz="1296"/>
            </a:pPr>
            <a:r>
              <a:rPr lang="en-US" dirty="0"/>
              <a:t>• Product ID</a:t>
            </a:r>
          </a:p>
          <a:p>
            <a:pPr>
              <a:defRPr sz="1296"/>
            </a:pPr>
            <a:r>
              <a:rPr lang="en-US" dirty="0"/>
              <a:t>• Customer ID</a:t>
            </a:r>
          </a:p>
          <a:p>
            <a:pPr>
              <a:defRPr sz="1296"/>
            </a:pPr>
            <a:r>
              <a:rPr lang="en-US" dirty="0"/>
              <a:t>• Store ID</a:t>
            </a:r>
          </a:p>
          <a:p>
            <a:pPr>
              <a:defRPr sz="1296"/>
            </a:pPr>
            <a:r>
              <a:rPr lang="en-US" dirty="0"/>
              <a:t>• Quantity Sold</a:t>
            </a:r>
          </a:p>
          <a:p>
            <a:pPr>
              <a:defRPr sz="1296"/>
            </a:pPr>
            <a:r>
              <a:rPr lang="en-US" dirty="0"/>
              <a:t>• Revenue</a:t>
            </a:r>
          </a:p>
          <a:p>
            <a:pPr>
              <a:defRPr sz="1296"/>
            </a:pPr>
            <a:r>
              <a:rPr lang="en-US" dirty="0"/>
              <a:t>• Sales Date</a:t>
            </a:r>
          </a:p>
          <a:p>
            <a:pPr>
              <a:defRPr sz="1296"/>
            </a:pPr>
            <a:endParaRPr lang="en-US" dirty="0"/>
          </a:p>
          <a:p>
            <a:pPr>
              <a:defRPr sz="1296"/>
            </a:pPr>
            <a:r>
              <a:rPr lang="en-US" dirty="0"/>
              <a:t>Purpose:</a:t>
            </a:r>
          </a:p>
          <a:p>
            <a:pPr>
              <a:defRPr sz="1296"/>
            </a:pPr>
            <a:r>
              <a:rPr lang="en-US" dirty="0"/>
              <a:t>• Revenue analysis</a:t>
            </a:r>
          </a:p>
          <a:p>
            <a:pPr>
              <a:defRPr sz="1296"/>
            </a:pPr>
            <a:endParaRPr lang="en-US" dirty="0"/>
          </a:p>
          <a:p>
            <a:pPr>
              <a:defRPr sz="1296"/>
            </a:pPr>
            <a:r>
              <a:rPr lang="en-US" dirty="0"/>
              <a:t>• Sales trend 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2DA696-B8E1-409C-BC17-19FEAD5A00F0}"/>
              </a:ext>
            </a:extLst>
          </p:cNvPr>
          <p:cNvSpPr txBox="1"/>
          <p:nvPr/>
        </p:nvSpPr>
        <p:spPr>
          <a:xfrm>
            <a:off x="9566788" y="1612490"/>
            <a:ext cx="2349910" cy="351570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Stores Dataset</a:t>
            </a:r>
          </a:p>
          <a:p>
            <a:r>
              <a:rPr lang="en-US" dirty="0"/>
              <a:t>Total Records : 100</a:t>
            </a:r>
          </a:p>
          <a:p>
            <a:endParaRPr lang="en-IN" b="1" dirty="0"/>
          </a:p>
          <a:p>
            <a:pPr>
              <a:defRPr sz="1296"/>
            </a:pPr>
            <a:r>
              <a:rPr lang="en-US" dirty="0"/>
              <a:t>Columns:</a:t>
            </a:r>
          </a:p>
          <a:p>
            <a:pPr>
              <a:defRPr sz="1296"/>
            </a:pPr>
            <a:r>
              <a:rPr lang="en-US" dirty="0"/>
              <a:t>• Store ID</a:t>
            </a:r>
          </a:p>
          <a:p>
            <a:pPr>
              <a:defRPr sz="1296"/>
            </a:pPr>
            <a:r>
              <a:rPr lang="en-US" dirty="0"/>
              <a:t>• Store Name</a:t>
            </a:r>
          </a:p>
          <a:p>
            <a:pPr>
              <a:defRPr sz="1296"/>
            </a:pPr>
            <a:r>
              <a:rPr lang="en-US" dirty="0"/>
              <a:t>• Location</a:t>
            </a:r>
          </a:p>
          <a:p>
            <a:pPr>
              <a:defRPr sz="1296"/>
            </a:pPr>
            <a:r>
              <a:rPr lang="en-US" dirty="0"/>
              <a:t>• Region</a:t>
            </a:r>
          </a:p>
          <a:p>
            <a:pPr>
              <a:defRPr sz="1296"/>
            </a:pPr>
            <a:r>
              <a:rPr lang="en-US" dirty="0"/>
              <a:t>• Store Type</a:t>
            </a:r>
          </a:p>
          <a:p>
            <a:pPr>
              <a:defRPr sz="1296"/>
            </a:pPr>
            <a:endParaRPr lang="en-US" dirty="0"/>
          </a:p>
          <a:p>
            <a:pPr>
              <a:defRPr sz="1296"/>
            </a:pPr>
            <a:endParaRPr lang="en-US" dirty="0"/>
          </a:p>
          <a:p>
            <a:pPr>
              <a:defRPr sz="1296"/>
            </a:pPr>
            <a:r>
              <a:rPr lang="en-US" dirty="0"/>
              <a:t>Purpose:</a:t>
            </a:r>
          </a:p>
          <a:p>
            <a:pPr>
              <a:defRPr sz="1296"/>
            </a:pPr>
            <a:r>
              <a:rPr lang="en-US" dirty="0"/>
              <a:t>• Store-wise performance analysis</a:t>
            </a:r>
          </a:p>
          <a:p>
            <a:pPr>
              <a:defRPr sz="1296"/>
            </a:pPr>
            <a:r>
              <a:rPr lang="en-US" dirty="0"/>
              <a:t>• Regional comparison</a:t>
            </a:r>
            <a:endParaRPr lang="en-IN" b="1" dirty="0"/>
          </a:p>
          <a:p>
            <a:pPr>
              <a:defRPr sz="1296"/>
            </a:pP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78E11F-78F3-58CB-EF3E-0ED993C5BD7E}"/>
              </a:ext>
            </a:extLst>
          </p:cNvPr>
          <p:cNvSpPr txBox="1"/>
          <p:nvPr/>
        </p:nvSpPr>
        <p:spPr>
          <a:xfrm>
            <a:off x="0" y="285135"/>
            <a:ext cx="121035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 dirty="0"/>
              <a:t>Dataset Overview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3C6E76-61C5-86D9-0B03-55A4D10FAF5E}"/>
              </a:ext>
            </a:extLst>
          </p:cNvPr>
          <p:cNvSpPr txBox="1"/>
          <p:nvPr/>
        </p:nvSpPr>
        <p:spPr>
          <a:xfrm>
            <a:off x="98322" y="943897"/>
            <a:ext cx="1181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datasets used in this project were sourced from </a:t>
            </a:r>
            <a:r>
              <a:rPr lang="en-US" sz="2000" b="1" dirty="0"/>
              <a:t>Kaggle</a:t>
            </a:r>
            <a:r>
              <a:rPr lang="en-US" dirty="0"/>
              <a:t> and are publicly available for educational and </a:t>
            </a:r>
            <a:r>
              <a:rPr lang="en-US" dirty="0" err="1"/>
              <a:t>analytica</a:t>
            </a:r>
            <a:r>
              <a:rPr lang="en-US" dirty="0"/>
              <a:t> purposes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7BECD7-A853-F523-808F-C4E4CA9DC1F0}"/>
              </a:ext>
            </a:extLst>
          </p:cNvPr>
          <p:cNvSpPr txBox="1"/>
          <p:nvPr/>
        </p:nvSpPr>
        <p:spPr>
          <a:xfrm>
            <a:off x="255639" y="5456903"/>
            <a:ext cx="3313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b="1" dirty="0"/>
          </a:p>
          <a:p>
            <a:r>
              <a:rPr lang="en-IN" sz="2400" b="1" dirty="0"/>
              <a:t>                       Data Model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72D9A4A7-7139-8481-EBBD-DC4FEA5DB795}"/>
              </a:ext>
            </a:extLst>
          </p:cNvPr>
          <p:cNvSpPr/>
          <p:nvPr/>
        </p:nvSpPr>
        <p:spPr>
          <a:xfrm>
            <a:off x="3760839" y="5803268"/>
            <a:ext cx="491612" cy="4846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DD6D0C-BCF4-CFDE-1E94-17A4E8791BBF}"/>
              </a:ext>
            </a:extLst>
          </p:cNvPr>
          <p:cNvSpPr txBox="1"/>
          <p:nvPr/>
        </p:nvSpPr>
        <p:spPr>
          <a:xfrm>
            <a:off x="4935793" y="5245510"/>
            <a:ext cx="371659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296"/>
            </a:pPr>
            <a:r>
              <a:rPr lang="en-US" sz="1600" b="1" dirty="0"/>
              <a:t>Key Relationships</a:t>
            </a:r>
            <a:r>
              <a:rPr lang="en-US" sz="1600" dirty="0"/>
              <a:t>:</a:t>
            </a:r>
          </a:p>
          <a:p>
            <a:pPr>
              <a:defRPr sz="1296"/>
            </a:pPr>
            <a:r>
              <a:rPr lang="en-US" sz="1600" dirty="0"/>
              <a:t>• Customers → </a:t>
            </a:r>
            <a:r>
              <a:rPr lang="en-US" sz="1600" dirty="0" err="1"/>
              <a:t>customer_id</a:t>
            </a:r>
            <a:endParaRPr lang="en-US" sz="1600" dirty="0"/>
          </a:p>
          <a:p>
            <a:pPr>
              <a:defRPr sz="1296"/>
            </a:pPr>
            <a:r>
              <a:rPr lang="en-US" sz="1600" dirty="0"/>
              <a:t>• Products → </a:t>
            </a:r>
            <a:r>
              <a:rPr lang="en-US" sz="1600" dirty="0" err="1"/>
              <a:t>product_id</a:t>
            </a:r>
            <a:endParaRPr lang="en-US" sz="1600" dirty="0"/>
          </a:p>
          <a:p>
            <a:pPr>
              <a:defRPr sz="1296"/>
            </a:pPr>
            <a:r>
              <a:rPr lang="en-US" sz="1600" dirty="0"/>
              <a:t>• Stores → </a:t>
            </a:r>
            <a:r>
              <a:rPr lang="en-US" sz="1600" dirty="0" err="1"/>
              <a:t>store_id</a:t>
            </a:r>
            <a:endParaRPr lang="en-US" sz="1600" dirty="0"/>
          </a:p>
          <a:p>
            <a:pPr>
              <a:defRPr sz="1296"/>
            </a:pPr>
            <a:r>
              <a:rPr lang="en-US" sz="1600" dirty="0"/>
              <a:t>• Calendar → date</a:t>
            </a:r>
          </a:p>
          <a:p>
            <a:pPr>
              <a:defRPr sz="1296"/>
            </a:pPr>
            <a:r>
              <a:rPr lang="en-US" sz="1600" dirty="0"/>
              <a:t>• Sales acts as the central fact table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93880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37391F-2E69-9964-59F9-94A0A3D46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7" y="4114410"/>
            <a:ext cx="8947354" cy="2598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4F77A4-AD68-42E1-B2DB-596888250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599" y="78659"/>
            <a:ext cx="2794413" cy="6672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DD4F02-4217-EE0C-CE8E-D9FA966CC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458" y="1235340"/>
            <a:ext cx="5123510" cy="235343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BA9A0D-0980-3F77-2770-C1840F917562}"/>
              </a:ext>
            </a:extLst>
          </p:cNvPr>
          <p:cNvSpPr txBox="1"/>
          <p:nvPr/>
        </p:nvSpPr>
        <p:spPr>
          <a:xfrm>
            <a:off x="1267458" y="717755"/>
            <a:ext cx="544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Q1. Calculate total revenue generated by each product.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00037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2BE4ED-6122-1B89-4518-90BF438CB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475" y="516815"/>
            <a:ext cx="2309060" cy="3480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1B84E9-BC34-7384-FD28-EB8E77CBA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725" y="3997435"/>
            <a:ext cx="7488784" cy="27997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6E0E18-22CE-008E-93D4-85A80526735D}"/>
              </a:ext>
            </a:extLst>
          </p:cNvPr>
          <p:cNvSpPr txBox="1"/>
          <p:nvPr/>
        </p:nvSpPr>
        <p:spPr>
          <a:xfrm>
            <a:off x="-1" y="147483"/>
            <a:ext cx="7505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Q2. Identify products whose total revenue is below the overall average       revenue across all products.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6344A2-00A0-EDD9-9C0A-F2EEDD9CC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86" y="993058"/>
            <a:ext cx="6702021" cy="291772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44774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87C997-72D3-5EF1-8AA8-19F37F62FB0A}"/>
              </a:ext>
            </a:extLst>
          </p:cNvPr>
          <p:cNvSpPr txBox="1"/>
          <p:nvPr/>
        </p:nvSpPr>
        <p:spPr>
          <a:xfrm>
            <a:off x="0" y="0"/>
            <a:ext cx="6095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Q3 : Calculate the percentage contribution of each product to total revenue.</a:t>
            </a:r>
            <a:r>
              <a:rPr lang="en-IN" dirty="0"/>
              <a:t>					</a:t>
            </a:r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5A09B0-AD50-A9C9-484B-AEC0E9617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098" y="0"/>
            <a:ext cx="3601901" cy="6705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C4C01-E4C7-B549-3FA8-47DC6B946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03639"/>
            <a:ext cx="8485239" cy="34710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1EE268-E068-C0A0-D224-E89B8EAAA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87" y="923330"/>
            <a:ext cx="6595471" cy="237764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47689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FB4F10-9EA7-82BB-CB42-E9A7F2639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1" y="2839266"/>
            <a:ext cx="6027172" cy="37493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F74439-D0A1-3BAA-6AE5-71CC8C3EB3A7}"/>
              </a:ext>
            </a:extLst>
          </p:cNvPr>
          <p:cNvSpPr txBox="1"/>
          <p:nvPr/>
        </p:nvSpPr>
        <p:spPr>
          <a:xfrm>
            <a:off x="1" y="5309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Q4 Which product earns the highest profit in each country?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8BA2D1-4446-D252-080F-AF95A8508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090" y="194706"/>
            <a:ext cx="4876798" cy="2568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E2CE30-5360-27E9-263E-7A1053792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193640"/>
            <a:ext cx="6705600" cy="37493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30976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879C9E-8764-D9EB-C360-0362A78DC328}"/>
              </a:ext>
            </a:extLst>
          </p:cNvPr>
          <p:cNvSpPr txBox="1"/>
          <p:nvPr/>
        </p:nvSpPr>
        <p:spPr>
          <a:xfrm>
            <a:off x="1" y="226142"/>
            <a:ext cx="426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Q5 : Find the top 3 products within each category based on total revenue.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E6518-AAB7-2AA8-C503-9B6433F43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767" y="855406"/>
            <a:ext cx="2921562" cy="5272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6CCC4F-33EA-E929-0D6F-4E2856084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457" y="872473"/>
            <a:ext cx="4486198" cy="52556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A04BF2-CAAB-F62B-1ED0-D61FB4C97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" y="872473"/>
            <a:ext cx="4393619" cy="52726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36120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178271-3C65-EABD-6E44-36A244746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35" y="4110384"/>
            <a:ext cx="5152103" cy="27476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9A86A3-7E99-8AED-198F-D7E999A73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935" y="444124"/>
            <a:ext cx="5004620" cy="35084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FB06AF-E0F9-50B7-F117-2DD4A40EA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6" y="1363934"/>
            <a:ext cx="6518787" cy="439777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39D788F-C154-98CC-A8A6-3DE38D9082B7}"/>
              </a:ext>
            </a:extLst>
          </p:cNvPr>
          <p:cNvSpPr txBox="1"/>
          <p:nvPr/>
        </p:nvSpPr>
        <p:spPr>
          <a:xfrm>
            <a:off x="0" y="717755"/>
            <a:ext cx="6587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Q6 : Which product categories peak in which months?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89211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03E1F4-AA21-A93F-8CFA-64848A8AB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" y="601450"/>
            <a:ext cx="4701947" cy="56551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0B5F18-992B-4D11-9F71-AED44DDAA96C}"/>
              </a:ext>
            </a:extLst>
          </p:cNvPr>
          <p:cNvSpPr txBox="1"/>
          <p:nvPr/>
        </p:nvSpPr>
        <p:spPr>
          <a:xfrm>
            <a:off x="0" y="68826"/>
            <a:ext cx="64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Q7 : Categorize products by revenue and analyze their quantity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2EB59A-02E0-444E-51F9-1313DAC17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165" y="601450"/>
            <a:ext cx="4480948" cy="39017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426444-CE1D-06E1-8BC4-BB4203266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353" y="4419389"/>
            <a:ext cx="4435224" cy="24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035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544FC1-D276-D37A-D5CA-C0732CE4D051}"/>
              </a:ext>
            </a:extLst>
          </p:cNvPr>
          <p:cNvSpPr txBox="1"/>
          <p:nvPr/>
        </p:nvSpPr>
        <p:spPr>
          <a:xfrm>
            <a:off x="570270" y="373626"/>
            <a:ext cx="1116944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                                                                     </a:t>
            </a:r>
            <a:r>
              <a:rPr lang="en-US" sz="2400" b="1" u="sng" dirty="0"/>
              <a:t>Challenges Faced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Handling 1 Million Sales Records:</a:t>
            </a:r>
            <a:r>
              <a:rPr lang="en-US" dirty="0"/>
              <a:t> Processing large datasets significantly increases query execution time and causes       performance bottlenecks during heavy analytical tasks.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Managing Complex Table Joins:</a:t>
            </a:r>
            <a:r>
              <a:rPr lang="en-US" dirty="0"/>
              <a:t> Linking multiple relational tables requires precise syntax to prevent duplicate   records and ensure data integrity across dimensions.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Writing Advanced SQL Queries:</a:t>
            </a:r>
            <a:r>
              <a:rPr lang="en-US" dirty="0"/>
              <a:t> Constructing deep analytical structures using window functions and Common Table Expressions (CTEs) increases the risk of logical errors.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Performing Time-Based Analysis:</a:t>
            </a:r>
            <a:r>
              <a:rPr lang="en-US" dirty="0"/>
              <a:t> Tracking chronological data patterns requires complex sequential logic to accurately evaluate growth trends across specific months.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1995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6BA8F2-EEB8-7A9A-603D-D9FEB9A30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" y="628706"/>
            <a:ext cx="11493911" cy="503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Track Growth Trends: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Compare monthly sales patterns to see if top-performing items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Dark Chocolate 50%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Google Sans Text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maintain steady revenue momentum or experience sharp monthly drops.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Measure Performance Variability: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Compute revenue variance across the 12 months to quantify which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Google Sans Text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items have stable demand versus fluctuating items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Praline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Expand Ranking Insights: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Cross-reference total quantity sold against total sales revenue to spotlight high-volume,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Google Sans Text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lower-margin items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Milk Chocolate 60%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Evaluate Tier Transitions: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Analyze monthly data to see if low-performing products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Truffle Chocolate 60%</a:t>
            </a:r>
            <a:endParaRPr lang="en-US" altLang="en-US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shift into higher value tiers during your highest-revenue peak month of January.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FF9C-B6AE-8C34-25AA-F3E47DF375A3}"/>
              </a:ext>
            </a:extLst>
          </p:cNvPr>
          <p:cNvSpPr txBox="1"/>
          <p:nvPr/>
        </p:nvSpPr>
        <p:spPr>
          <a:xfrm>
            <a:off x="4100052" y="216310"/>
            <a:ext cx="3598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Recommendations</a:t>
            </a:r>
            <a:endParaRPr lang="en-IN" sz="2400" u="sng" dirty="0"/>
          </a:p>
        </p:txBody>
      </p:sp>
    </p:spTree>
    <p:extLst>
      <p:ext uri="{BB962C8B-B14F-4D97-AF65-F5344CB8AC3E}">
        <p14:creationId xmlns:p14="http://schemas.microsoft.com/office/powerpoint/2010/main" val="2696806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569</Words>
  <Application>Microsoft Office PowerPoint</Application>
  <PresentationFormat>Widescreen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ARIJIT POLLEY</dc:creator>
  <cp:lastModifiedBy>ARIJIT POLLEY</cp:lastModifiedBy>
  <cp:revision>21</cp:revision>
  <dcterms:created xsi:type="dcterms:W3CDTF">2026-05-14T17:29:41Z</dcterms:created>
  <dcterms:modified xsi:type="dcterms:W3CDTF">2026-05-18T18:55:54Z</dcterms:modified>
</cp:coreProperties>
</file>